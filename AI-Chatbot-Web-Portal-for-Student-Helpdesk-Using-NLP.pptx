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10972800"/>
  <p:notesSz cx="109728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  <p:bold r:id="rId18"/>
      <p: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450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4120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104927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6.png"/><Relationship Id="rId20" Type="http://schemas.openxmlformats.org/officeDocument/2006/relationships/image" Target="../media/image30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7391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AI Chatbot Web Portal for Student Helpdesk Using NLP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5293638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5743218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Amit A. Sabnis | Sai Anudra Togati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661951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Department of Computer Science and Engineering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GITAM University, Bengaluru</a:t>
            </a:r>
            <a:endParaRPr lang="en-US" sz="18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A5ACEA-38C4-52B8-9E1A-08DFEAB753E2}"/>
              </a:ext>
            </a:extLst>
          </p:cNvPr>
          <p:cNvSpPr/>
          <p:nvPr/>
        </p:nvSpPr>
        <p:spPr>
          <a:xfrm>
            <a:off x="12372975" y="10315575"/>
            <a:ext cx="2243137" cy="642937"/>
          </a:xfrm>
          <a:prstGeom prst="rect">
            <a:avLst/>
          </a:prstGeom>
          <a:solidFill>
            <a:srgbClr val="F3F3F7"/>
          </a:solidFill>
          <a:ln>
            <a:solidFill>
              <a:srgbClr val="F3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811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5336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student helpdesks struggle with scalability and consistency, creating frustration for both students and staff.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93790" y="3060978"/>
            <a:ext cx="4196358" cy="2819519"/>
          </a:xfrm>
          <a:prstGeom prst="roundRect">
            <a:avLst>
              <a:gd name="adj" fmla="val 5189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060978"/>
            <a:ext cx="121920" cy="2819519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3182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Delayed Responses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808690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email and phone-based query handling causes significant delays, leaving students waiting hours or days for answers.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060978"/>
            <a:ext cx="4196358" cy="2819519"/>
          </a:xfrm>
          <a:prstGeom prst="roundRect">
            <a:avLst>
              <a:gd name="adj" fmla="val 5189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3060978"/>
            <a:ext cx="121920" cy="2819519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33182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Repetitive Work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65696" y="3808690"/>
            <a:ext cx="3590330" cy="181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Staff repeatedly answer identical questions across multiple channels, wasting valuable time &amp; resources on routine inquiries.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060978"/>
            <a:ext cx="4196358" cy="2819519"/>
          </a:xfrm>
          <a:prstGeom prst="roundRect">
            <a:avLst>
              <a:gd name="adj" fmla="val 5189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3060978"/>
            <a:ext cx="121920" cy="2819519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33182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Limited Availability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988868" y="3808690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support available outside working hours—students receive zero assistance during nights, weekends, or holidays.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6107311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310" y="6107311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18" name="Text 16"/>
          <p:cNvSpPr/>
          <p:nvPr/>
        </p:nvSpPr>
        <p:spPr>
          <a:xfrm>
            <a:off x="1142524" y="63646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Static Content Issues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42524" y="6855023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Static FAQ pages cannot understand differently phrased questions or adapt to natural language variations.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5216962" y="6107311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86482" y="6107311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22" name="Text 20"/>
          <p:cNvSpPr/>
          <p:nvPr/>
        </p:nvSpPr>
        <p:spPr>
          <a:xfrm>
            <a:off x="5565696" y="63646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Growing Demand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65696" y="6855023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Increasing enrollments compound the problem every year, making the current system unsustainable.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133951" y="9287589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"Students wait. Staff burn out. The system doesn't scale."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793790" y="9032438"/>
            <a:ext cx="30480" cy="873204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D589AD-A38F-D9F6-3EC0-987919823E63}"/>
              </a:ext>
            </a:extLst>
          </p:cNvPr>
          <p:cNvSpPr/>
          <p:nvPr/>
        </p:nvSpPr>
        <p:spPr>
          <a:xfrm>
            <a:off x="12372975" y="10315575"/>
            <a:ext cx="2243137" cy="642937"/>
          </a:xfrm>
          <a:prstGeom prst="rect">
            <a:avLst/>
          </a:prstGeom>
          <a:solidFill>
            <a:srgbClr val="F3F3F7"/>
          </a:solidFill>
          <a:ln>
            <a:solidFill>
              <a:srgbClr val="F3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2625"/>
            <a:ext cx="74308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Proposed Solution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6503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intelligent, AI-powered Chatbot Web Portal that revolutionizes student support through natural language processing and 24/7 automated assistance.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45988"/>
            <a:ext cx="4196358" cy="3657243"/>
          </a:xfrm>
          <a:prstGeom prst="roundRect">
            <a:avLst>
              <a:gd name="adj" fmla="val 930"/>
            </a:avLst>
          </a:prstGeom>
          <a:solidFill>
            <a:srgbClr val="E0E0EC"/>
          </a:solidFill>
          <a:ln/>
        </p:spPr>
      </p:sp>
      <p:sp>
        <p:nvSpPr>
          <p:cNvPr id="5" name="Shape 3"/>
          <p:cNvSpPr/>
          <p:nvPr/>
        </p:nvSpPr>
        <p:spPr>
          <a:xfrm>
            <a:off x="1020604" y="337280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3559850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4280059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Natural Language Understanding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5124807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Processes queries in everyday language, understanding context and intent rather than exact keyword matches.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145988"/>
            <a:ext cx="4196358" cy="3657243"/>
          </a:xfrm>
          <a:prstGeom prst="roundRect">
            <a:avLst>
              <a:gd name="adj" fmla="val 930"/>
            </a:avLst>
          </a:prstGeom>
          <a:solidFill>
            <a:srgbClr val="E0E0EC"/>
          </a:solidFill>
          <a:ln/>
        </p:spPr>
      </p:sp>
      <p:sp>
        <p:nvSpPr>
          <p:cNvPr id="10" name="Shape 7"/>
          <p:cNvSpPr/>
          <p:nvPr/>
        </p:nvSpPr>
        <p:spPr>
          <a:xfrm>
            <a:off x="5443776" y="337280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942" y="3559850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3776" y="4280059"/>
            <a:ext cx="29654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24/7 Instant Responses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43776" y="4770477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immediate answers to routine questions without human intervention, eliminating response delays entirely.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145988"/>
            <a:ext cx="4196358" cy="3657243"/>
          </a:xfrm>
          <a:prstGeom prst="roundRect">
            <a:avLst>
              <a:gd name="adj" fmla="val 930"/>
            </a:avLst>
          </a:prstGeom>
          <a:solidFill>
            <a:srgbClr val="E0E0EC"/>
          </a:solidFill>
          <a:ln/>
        </p:spPr>
      </p:sp>
      <p:sp>
        <p:nvSpPr>
          <p:cNvPr id="15" name="Shape 11"/>
          <p:cNvSpPr/>
          <p:nvPr/>
        </p:nvSpPr>
        <p:spPr>
          <a:xfrm>
            <a:off x="9866948" y="337280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4114" y="3559850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66948" y="4280059"/>
            <a:ext cx="33239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Comprehensive Coverage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66948" y="4770477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Handles admissions, fees, exams, attendance, placements, and course-related queries across all domains.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793790" y="7030045"/>
            <a:ext cx="6407944" cy="2940010"/>
          </a:xfrm>
          <a:prstGeom prst="roundRect">
            <a:avLst>
              <a:gd name="adj" fmla="val 1157"/>
            </a:avLst>
          </a:prstGeom>
          <a:solidFill>
            <a:srgbClr val="E0E0EC"/>
          </a:solidFill>
          <a:ln/>
        </p:spPr>
      </p:sp>
      <p:sp>
        <p:nvSpPr>
          <p:cNvPr id="20" name="Shape 15"/>
          <p:cNvSpPr/>
          <p:nvPr/>
        </p:nvSpPr>
        <p:spPr>
          <a:xfrm>
            <a:off x="1020604" y="725685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7770" y="7443907"/>
            <a:ext cx="306110" cy="3061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0604" y="81641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Smart Escalation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1020604" y="8654534"/>
            <a:ext cx="59543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Automatically forwards uncertain or complex queries to human administrators when confidence thresholds aren't met.</a:t>
            </a:r>
            <a:endParaRPr lang="en-US" sz="1750" dirty="0"/>
          </a:p>
        </p:txBody>
      </p:sp>
      <p:sp>
        <p:nvSpPr>
          <p:cNvPr id="24" name="Shape 18"/>
          <p:cNvSpPr/>
          <p:nvPr/>
        </p:nvSpPr>
        <p:spPr>
          <a:xfrm>
            <a:off x="7428548" y="7030045"/>
            <a:ext cx="6407944" cy="2940010"/>
          </a:xfrm>
          <a:prstGeom prst="roundRect">
            <a:avLst>
              <a:gd name="adj" fmla="val 1157"/>
            </a:avLst>
          </a:prstGeom>
          <a:solidFill>
            <a:srgbClr val="E0E0EC"/>
          </a:solidFill>
          <a:ln/>
        </p:spPr>
      </p:sp>
      <p:sp>
        <p:nvSpPr>
          <p:cNvPr id="25" name="Shape 19"/>
          <p:cNvSpPr/>
          <p:nvPr/>
        </p:nvSpPr>
        <p:spPr>
          <a:xfrm>
            <a:off x="7655362" y="725685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01014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42528" y="7443907"/>
            <a:ext cx="306110" cy="30611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55362" y="81641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Admin Dashboard</a:t>
            </a:r>
            <a:endParaRPr lang="en-US" sz="2200" dirty="0"/>
          </a:p>
        </p:txBody>
      </p:sp>
      <p:sp>
        <p:nvSpPr>
          <p:cNvPr id="28" name="Text 21"/>
          <p:cNvSpPr/>
          <p:nvPr/>
        </p:nvSpPr>
        <p:spPr>
          <a:xfrm>
            <a:off x="7655362" y="8654534"/>
            <a:ext cx="59543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Gives administrators powerful tools to manage knowledge bases, monitor performance, and track emerging trends.</a:t>
            </a:r>
            <a:endParaRPr lang="en-US" sz="17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4AD7DDA-99CC-A1AA-35F7-D0765CCEA282}"/>
              </a:ext>
            </a:extLst>
          </p:cNvPr>
          <p:cNvSpPr/>
          <p:nvPr/>
        </p:nvSpPr>
        <p:spPr>
          <a:xfrm>
            <a:off x="12372975" y="10315575"/>
            <a:ext cx="2243137" cy="642937"/>
          </a:xfrm>
          <a:prstGeom prst="rect">
            <a:avLst/>
          </a:prstGeom>
          <a:solidFill>
            <a:srgbClr val="F3F3F7"/>
          </a:solidFill>
          <a:ln>
            <a:solidFill>
              <a:srgbClr val="F3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47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System Architecture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1227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modular, full-stack design built with modern web technologies and machine learning frameworks.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93790" y="6010870"/>
            <a:ext cx="13042821" cy="30480"/>
          </a:xfrm>
          <a:prstGeom prst="roundRect">
            <a:avLst>
              <a:gd name="adj" fmla="val 111628"/>
            </a:avLst>
          </a:prstGeom>
          <a:solidFill>
            <a:srgbClr val="C6C6D2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2817138"/>
            <a:ext cx="3048000" cy="3193733"/>
          </a:xfrm>
          <a:prstGeom prst="roundRect">
            <a:avLst>
              <a:gd name="adj" fmla="val 1116"/>
            </a:avLst>
          </a:prstGeom>
          <a:solidFill>
            <a:srgbClr val="E0E0EC"/>
          </a:solidFill>
          <a:ln/>
        </p:spPr>
      </p:sp>
      <p:sp>
        <p:nvSpPr>
          <p:cNvPr id="6" name="Text 4"/>
          <p:cNvSpPr/>
          <p:nvPr/>
        </p:nvSpPr>
        <p:spPr>
          <a:xfrm>
            <a:off x="1020604" y="3040023"/>
            <a:ext cx="25943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Frontend Layer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0604" y="3530441"/>
            <a:ext cx="259437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Responsive web interface with intuitive chat UI, built using modern frameworks for seamless user experience.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4125278" y="6041350"/>
            <a:ext cx="3048119" cy="2894648"/>
          </a:xfrm>
          <a:prstGeom prst="rect">
            <a:avLst/>
          </a:prstGeom>
          <a:solidFill>
            <a:srgbClr val="E0E0EC"/>
          </a:solidFill>
          <a:ln/>
        </p:spPr>
      </p:sp>
      <p:sp>
        <p:nvSpPr>
          <p:cNvPr id="9" name="Text 7"/>
          <p:cNvSpPr/>
          <p:nvPr/>
        </p:nvSpPr>
        <p:spPr>
          <a:xfrm>
            <a:off x="4352092" y="6268164"/>
            <a:ext cx="25944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Backend Layer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52092" y="6758583"/>
            <a:ext cx="2594491" cy="181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RESTful API handling authentication, request routing, response generation, and comprehensive logging.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56884" y="2889410"/>
            <a:ext cx="3048119" cy="3121460"/>
          </a:xfrm>
          <a:prstGeom prst="roundRect">
            <a:avLst>
              <a:gd name="adj" fmla="val 1233"/>
            </a:avLst>
          </a:prstGeom>
          <a:solidFill>
            <a:srgbClr val="E0E0EC"/>
          </a:solidFill>
          <a:ln/>
        </p:spPr>
      </p:sp>
      <p:sp>
        <p:nvSpPr>
          <p:cNvPr id="12" name="Text 10"/>
          <p:cNvSpPr/>
          <p:nvPr/>
        </p:nvSpPr>
        <p:spPr>
          <a:xfrm>
            <a:off x="7683698" y="3146703"/>
            <a:ext cx="25944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Database Layer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83698" y="3637121"/>
            <a:ext cx="2594491" cy="181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Relational SQL database storing FAQs, conversation logs, semantic embeddings, and analytics data.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10788491" y="6041350"/>
            <a:ext cx="3048119" cy="3315652"/>
          </a:xfrm>
          <a:prstGeom prst="rect">
            <a:avLst/>
          </a:prstGeom>
          <a:solidFill>
            <a:srgbClr val="E0E0EC"/>
          </a:solidFill>
          <a:ln/>
        </p:spPr>
      </p:sp>
      <p:sp>
        <p:nvSpPr>
          <p:cNvPr id="15" name="Text 13"/>
          <p:cNvSpPr/>
          <p:nvPr/>
        </p:nvSpPr>
        <p:spPr>
          <a:xfrm>
            <a:off x="11015305" y="6268164"/>
            <a:ext cx="25944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NLP Engine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015305" y="6758583"/>
            <a:ext cx="259449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Python-based processing core using Sentence-BERT transformers and Scikit-learn for intelligent query understanding.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96313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Flow:</a:t>
            </a:r>
            <a:r>
              <a:rPr lang="en-US" sz="1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Student query → Backend routing → NLP processing → Response generation or admin escalation</a:t>
            </a:r>
            <a:endParaRPr lang="en-US" sz="1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969493-58F1-4313-1163-7705F31F962E}"/>
              </a:ext>
            </a:extLst>
          </p:cNvPr>
          <p:cNvSpPr/>
          <p:nvPr/>
        </p:nvSpPr>
        <p:spPr>
          <a:xfrm>
            <a:off x="12372975" y="10315575"/>
            <a:ext cx="2243137" cy="642937"/>
          </a:xfrm>
          <a:prstGeom prst="rect">
            <a:avLst/>
          </a:prstGeom>
          <a:solidFill>
            <a:srgbClr val="F3F3F7"/>
          </a:solidFill>
          <a:ln>
            <a:solidFill>
              <a:srgbClr val="F3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575" y="624840"/>
            <a:ext cx="4800005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NLP Pipeline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0575" y="1435652"/>
            <a:ext cx="13049250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Step-by-step query processing that transforms natural language into accurate, context-aware responses.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5998" y="2016323"/>
            <a:ext cx="1076563" cy="134862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9266" y="2729032"/>
            <a:ext cx="269915" cy="26991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54493" y="2208252"/>
            <a:ext cx="239994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Preprocessing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4554493" y="2548650"/>
            <a:ext cx="9468670" cy="56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Converts text to lowercase, removes punctuation, tokenizes words, and applies lemmatization to normalize input.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4410546" y="3379351"/>
            <a:ext cx="9152692" cy="11430"/>
          </a:xfrm>
          <a:prstGeom prst="roundRect">
            <a:avLst>
              <a:gd name="adj" fmla="val 251974"/>
            </a:avLst>
          </a:prstGeom>
          <a:solidFill>
            <a:srgbClr val="C6C6D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7719" y="3412927"/>
            <a:ext cx="2153126" cy="1348621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89266" y="3952161"/>
            <a:ext cx="269915" cy="2699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092774" y="3604855"/>
            <a:ext cx="239994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Intent Classification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5092774" y="3945253"/>
            <a:ext cx="8893722" cy="56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Categorizes queries into predefined domains: Admissions, Fees, Exams, Attendance, Placements, or Courses.</a:t>
            </a:r>
            <a:endParaRPr lang="en-US" sz="1550" dirty="0"/>
          </a:p>
        </p:txBody>
      </p:sp>
      <p:sp>
        <p:nvSpPr>
          <p:cNvPr id="13" name="Shape 7"/>
          <p:cNvSpPr/>
          <p:nvPr/>
        </p:nvSpPr>
        <p:spPr>
          <a:xfrm>
            <a:off x="4948828" y="4775954"/>
            <a:ext cx="8614410" cy="11430"/>
          </a:xfrm>
          <a:prstGeom prst="roundRect">
            <a:avLst>
              <a:gd name="adj" fmla="val 251974"/>
            </a:avLst>
          </a:prstGeom>
          <a:solidFill>
            <a:srgbClr val="C6C6D2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438" y="4809530"/>
            <a:ext cx="3229689" cy="1348621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89266" y="5348764"/>
            <a:ext cx="269915" cy="26991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631056" y="5001458"/>
            <a:ext cx="246376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Intent-Based Filtering</a:t>
            </a:r>
            <a:endParaRPr lang="en-US" sz="1950" dirty="0"/>
          </a:p>
        </p:txBody>
      </p:sp>
      <p:sp>
        <p:nvSpPr>
          <p:cNvPr id="17" name="Text 9"/>
          <p:cNvSpPr/>
          <p:nvPr/>
        </p:nvSpPr>
        <p:spPr>
          <a:xfrm>
            <a:off x="5631056" y="5341856"/>
            <a:ext cx="8318772" cy="56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Narrows FAQ candidates to relevant domain, reducing search space and improving response accuracy.</a:t>
            </a:r>
            <a:endParaRPr lang="en-US" sz="1550" dirty="0"/>
          </a:p>
        </p:txBody>
      </p:sp>
      <p:sp>
        <p:nvSpPr>
          <p:cNvPr id="18" name="Shape 10"/>
          <p:cNvSpPr/>
          <p:nvPr/>
        </p:nvSpPr>
        <p:spPr>
          <a:xfrm>
            <a:off x="5487109" y="6172557"/>
            <a:ext cx="8076128" cy="11430"/>
          </a:xfrm>
          <a:prstGeom prst="roundRect">
            <a:avLst>
              <a:gd name="adj" fmla="val 251974"/>
            </a:avLst>
          </a:prstGeom>
          <a:solidFill>
            <a:srgbClr val="C6C6D2"/>
          </a:solidFill>
          <a:ln/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71156" y="6206133"/>
            <a:ext cx="4306253" cy="1348621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89266" y="6745367"/>
            <a:ext cx="269915" cy="26991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169338" y="6398062"/>
            <a:ext cx="239994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Sentence Embedding</a:t>
            </a:r>
            <a:endParaRPr lang="en-US" sz="1950" dirty="0"/>
          </a:p>
        </p:txBody>
      </p:sp>
      <p:sp>
        <p:nvSpPr>
          <p:cNvPr id="22" name="Text 12"/>
          <p:cNvSpPr/>
          <p:nvPr/>
        </p:nvSpPr>
        <p:spPr>
          <a:xfrm>
            <a:off x="6169337" y="6738459"/>
            <a:ext cx="7743823" cy="56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Encodes queries using Sentence-BERT (all-MiniLM-L6-v2), creating dense vector representations of meaning.</a:t>
            </a:r>
            <a:endParaRPr lang="en-US" sz="1550" dirty="0"/>
          </a:p>
        </p:txBody>
      </p:sp>
      <p:sp>
        <p:nvSpPr>
          <p:cNvPr id="23" name="Shape 13"/>
          <p:cNvSpPr/>
          <p:nvPr/>
        </p:nvSpPr>
        <p:spPr>
          <a:xfrm>
            <a:off x="6025391" y="7569160"/>
            <a:ext cx="7537847" cy="11430"/>
          </a:xfrm>
          <a:prstGeom prst="roundRect">
            <a:avLst>
              <a:gd name="adj" fmla="val 251974"/>
            </a:avLst>
          </a:prstGeom>
          <a:solidFill>
            <a:srgbClr val="C6C6D2"/>
          </a:solidFill>
          <a:ln/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2875" y="7602736"/>
            <a:ext cx="5382816" cy="1348621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89266" y="8141970"/>
            <a:ext cx="269915" cy="269915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6707619" y="7794665"/>
            <a:ext cx="239994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Hybrid Scoring</a:t>
            </a:r>
            <a:endParaRPr lang="en-US" sz="1950" dirty="0"/>
          </a:p>
        </p:txBody>
      </p:sp>
      <p:sp>
        <p:nvSpPr>
          <p:cNvPr id="27" name="Text 15"/>
          <p:cNvSpPr/>
          <p:nvPr/>
        </p:nvSpPr>
        <p:spPr>
          <a:xfrm>
            <a:off x="6707618" y="8135062"/>
            <a:ext cx="7168873" cy="56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Combines semantic similarity with keyword overlap for balanced, accurate matching.</a:t>
            </a:r>
            <a:endParaRPr lang="en-US" sz="1550" dirty="0"/>
          </a:p>
        </p:txBody>
      </p:sp>
      <p:sp>
        <p:nvSpPr>
          <p:cNvPr id="28" name="Shape 16"/>
          <p:cNvSpPr/>
          <p:nvPr/>
        </p:nvSpPr>
        <p:spPr>
          <a:xfrm>
            <a:off x="6563673" y="8965763"/>
            <a:ext cx="6999565" cy="11430"/>
          </a:xfrm>
          <a:prstGeom prst="roundRect">
            <a:avLst>
              <a:gd name="adj" fmla="val 251974"/>
            </a:avLst>
          </a:prstGeom>
          <a:solidFill>
            <a:srgbClr val="C6C6D2"/>
          </a:solidFill>
          <a:ln/>
        </p:spPr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4593" y="8999339"/>
            <a:ext cx="6459379" cy="1348621"/>
          </a:xfrm>
          <a:prstGeom prst="rect">
            <a:avLst/>
          </a:prstGeom>
        </p:spPr>
      </p:pic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89266" y="9538573"/>
            <a:ext cx="269915" cy="269915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7245901" y="9191268"/>
            <a:ext cx="239994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Escalation Check</a:t>
            </a:r>
            <a:endParaRPr lang="en-US" sz="1950" dirty="0"/>
          </a:p>
        </p:txBody>
      </p:sp>
      <p:sp>
        <p:nvSpPr>
          <p:cNvPr id="32" name="Text 18"/>
          <p:cNvSpPr/>
          <p:nvPr/>
        </p:nvSpPr>
        <p:spPr>
          <a:xfrm>
            <a:off x="7245901" y="9531666"/>
            <a:ext cx="6593924" cy="56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Automatically forwards queries with confidence scores below 0.65 threshold to human administrators.</a:t>
            </a:r>
            <a:endParaRPr lang="en-US" sz="15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8284461-5994-4BC1-3088-7E8C0F39816C}"/>
              </a:ext>
            </a:extLst>
          </p:cNvPr>
          <p:cNvSpPr/>
          <p:nvPr/>
        </p:nvSpPr>
        <p:spPr>
          <a:xfrm>
            <a:off x="12372975" y="10315575"/>
            <a:ext cx="2243137" cy="642937"/>
          </a:xfrm>
          <a:prstGeom prst="rect">
            <a:avLst/>
          </a:prstGeom>
          <a:solidFill>
            <a:srgbClr val="F3F3F7"/>
          </a:solidFill>
          <a:ln>
            <a:solidFill>
              <a:srgbClr val="F3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0252"/>
            <a:ext cx="59811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Core Algorithm: ESRIF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59757"/>
            <a:ext cx="1043892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Enhanced Semantic Retrieval with Intent Filtering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4122300"/>
            <a:ext cx="29119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Hybrid Score Formula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763690"/>
            <a:ext cx="6244709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763690"/>
            <a:ext cx="6244709" cy="3932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544401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</a:t>
            </a:r>
            <a:r>
              <a:rPr lang="en-US" sz="1750" i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\alpha = 0.8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750" i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\beta = 0.2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</a:t>
            </a:r>
            <a:r>
              <a:rPr lang="en-US" sz="1750" i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\alpha + \beta = 1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6623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Cosine Similarity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3790" y="6675119"/>
            <a:ext cx="6244709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7303773"/>
            <a:ext cx="6244709" cy="7200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99521" y="41223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Escalation Rule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7599521" y="4731781"/>
            <a:ext cx="6244709" cy="1065847"/>
          </a:xfrm>
          <a:prstGeom prst="roundRect">
            <a:avLst>
              <a:gd name="adj" fmla="val 3192"/>
            </a:avLst>
          </a:prstGeom>
          <a:solidFill>
            <a:srgbClr val="E6E6EA"/>
          </a:solidFill>
          <a:ln/>
        </p:spPr>
      </p:sp>
      <p:sp>
        <p:nvSpPr>
          <p:cNvPr id="13" name="Shape 9"/>
          <p:cNvSpPr/>
          <p:nvPr/>
        </p:nvSpPr>
        <p:spPr>
          <a:xfrm>
            <a:off x="7588210" y="4731781"/>
            <a:ext cx="6267331" cy="1065847"/>
          </a:xfrm>
          <a:prstGeom prst="roundRect">
            <a:avLst>
              <a:gd name="adj" fmla="val 3192"/>
            </a:avLst>
          </a:prstGeom>
          <a:solidFill>
            <a:srgbClr val="E6E6EA"/>
          </a:solidFill>
          <a:ln/>
        </p:spPr>
      </p:sp>
      <p:sp>
        <p:nvSpPr>
          <p:cNvPr id="14" name="Text 10"/>
          <p:cNvSpPr/>
          <p:nvPr/>
        </p:nvSpPr>
        <p:spPr>
          <a:xfrm>
            <a:off x="7815024" y="4901802"/>
            <a:ext cx="581370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&lt; τ (0.65):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escalate to admin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7599521" y="64242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Innovation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7599521" y="7005407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Prioritizes semantic meaning (80% weight) while using keyword overlap as reinforcement (20% weight), balancing contextual understanding with exact matches.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60C503-21D0-3F28-101E-EFF1BEDE102F}"/>
              </a:ext>
            </a:extLst>
          </p:cNvPr>
          <p:cNvSpPr/>
          <p:nvPr/>
        </p:nvSpPr>
        <p:spPr>
          <a:xfrm>
            <a:off x="12372975" y="10315575"/>
            <a:ext cx="2243137" cy="642937"/>
          </a:xfrm>
          <a:prstGeom prst="rect">
            <a:avLst/>
          </a:prstGeom>
          <a:solidFill>
            <a:srgbClr val="F3F3F7"/>
          </a:solidFill>
          <a:ln>
            <a:solidFill>
              <a:srgbClr val="F3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0012"/>
            <a:ext cx="5112306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Code Implementation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1963460"/>
            <a:ext cx="130428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response logic demonstrating the ESRIF algorithm in Python with clear, maintainable code structure.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93790" y="2480429"/>
            <a:ext cx="13042821" cy="7442359"/>
          </a:xfrm>
          <a:prstGeom prst="roundRect">
            <a:avLst>
              <a:gd name="adj" fmla="val 411"/>
            </a:avLst>
          </a:prstGeom>
          <a:solidFill>
            <a:srgbClr val="E6E6EA"/>
          </a:solidFill>
          <a:ln/>
        </p:spPr>
      </p:sp>
      <p:sp>
        <p:nvSpPr>
          <p:cNvPr id="5" name="Shape 3"/>
          <p:cNvSpPr/>
          <p:nvPr/>
        </p:nvSpPr>
        <p:spPr>
          <a:xfrm>
            <a:off x="783669" y="2480429"/>
            <a:ext cx="13063061" cy="7442359"/>
          </a:xfrm>
          <a:prstGeom prst="roundRect">
            <a:avLst>
              <a:gd name="adj" fmla="val 411"/>
            </a:avLst>
          </a:prstGeom>
          <a:solidFill>
            <a:srgbClr val="E6E6EA"/>
          </a:solidFill>
          <a:ln/>
        </p:spPr>
      </p:sp>
      <p:sp>
        <p:nvSpPr>
          <p:cNvPr id="6" name="Text 4"/>
          <p:cNvSpPr/>
          <p:nvPr/>
        </p:nvSpPr>
        <p:spPr>
          <a:xfrm>
            <a:off x="987742" y="2633424"/>
            <a:ext cx="12654915" cy="713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chatbot_response(query):
 query = preprocess(query)
 intent = classify_intent(query)
 candidate_faqs = [f for f in faqs if f["intent"] == intent]
 query_embedding = model.encode(query)
 best_score, best_answer = 0, None
 for faq in candidate_faqs:
 cosine_score = cosine_similarity(
 [query_embedding], [faq["embedding"]]
 )[0][0]
 keyword_score = keyword_overlap(query, faq["question"])
 final_score = 0.8 * cosine_score + 0.2 * keyword_score
 if final_score &gt; best_score:
 best_score = final_score
 best_answer = faq["answer"]
 if best_score &lt; 0.65:
 return "Escalated to administration."
 return best_answer
</a:t>
            </a:r>
            <a:endParaRPr lang="en-US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FA8CFD-A00B-C0F8-80E7-6697F6AF4638}"/>
              </a:ext>
            </a:extLst>
          </p:cNvPr>
          <p:cNvSpPr/>
          <p:nvPr/>
        </p:nvSpPr>
        <p:spPr>
          <a:xfrm>
            <a:off x="12372975" y="10315575"/>
            <a:ext cx="2243137" cy="642937"/>
          </a:xfrm>
          <a:prstGeom prst="rect">
            <a:avLst/>
          </a:prstGeom>
          <a:solidFill>
            <a:srgbClr val="F3F3F7"/>
          </a:solidFill>
          <a:ln>
            <a:solidFill>
              <a:srgbClr val="F3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61674"/>
            <a:ext cx="87404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Experimental Setup &amp; Evaluation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76387"/>
            <a:ext cx="30868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Dataset &amp; Environment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57531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Institutional student queries across 6 domains with paraphrased variations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87409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Environment: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Python, Sentence-Transformers, Scikit-learn, SQL database, 8–16GB RAM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917287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Metrics: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Accuracy, Precision, Recall, F1-Score, Response Latency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943" y="3265765"/>
            <a:ext cx="4205168" cy="32023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3790" y="6978371"/>
            <a:ext cx="4196358" cy="2151341"/>
          </a:xfrm>
          <a:prstGeom prst="roundRect">
            <a:avLst>
              <a:gd name="adj" fmla="val 1674"/>
            </a:avLst>
          </a:prstGeom>
          <a:solidFill>
            <a:srgbClr val="E0E0EC"/>
          </a:solidFill>
          <a:ln/>
        </p:spPr>
      </p:sp>
      <p:sp>
        <p:nvSpPr>
          <p:cNvPr id="9" name="Text 6"/>
          <p:cNvSpPr/>
          <p:nvPr/>
        </p:nvSpPr>
        <p:spPr>
          <a:xfrm>
            <a:off x="1020604" y="72051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TF-IDF + Cosine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20604" y="7695605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Lower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accuracy due to limited semantic understanding and keyword-only matching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216962" y="6978372"/>
            <a:ext cx="4196358" cy="2151340"/>
          </a:xfrm>
          <a:prstGeom prst="roundRect">
            <a:avLst>
              <a:gd name="adj" fmla="val 1674"/>
            </a:avLst>
          </a:prstGeom>
          <a:solidFill>
            <a:srgbClr val="E0E0EC"/>
          </a:solidFill>
          <a:ln/>
        </p:spPr>
      </p:sp>
      <p:sp>
        <p:nvSpPr>
          <p:cNvPr id="12" name="Text 9"/>
          <p:cNvSpPr/>
          <p:nvPr/>
        </p:nvSpPr>
        <p:spPr>
          <a:xfrm>
            <a:off x="5443776" y="72051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SBERT Plain Cosine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443776" y="7695605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Moderate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improvement with semantic embeddings but no intent filtering or hybrid scoring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9640133" y="6978372"/>
            <a:ext cx="4196358" cy="2151340"/>
          </a:xfrm>
          <a:prstGeom prst="roundRect">
            <a:avLst>
              <a:gd name="adj" fmla="val 1674"/>
            </a:avLst>
          </a:prstGeom>
          <a:solidFill>
            <a:srgbClr val="E0E0EC"/>
          </a:solidFill>
          <a:ln/>
        </p:spPr>
      </p:sp>
      <p:sp>
        <p:nvSpPr>
          <p:cNvPr id="15" name="Text 12"/>
          <p:cNvSpPr/>
          <p:nvPr/>
        </p:nvSpPr>
        <p:spPr>
          <a:xfrm>
            <a:off x="9866948" y="72051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ESRIF (Proposed)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866948" y="7695605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Highest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accuracy by combining semantic depth, keyword reinforcement, and intent filtering</a:t>
            </a:r>
            <a:endParaRPr lang="en-US" sz="17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48BF3D-FE83-4BE0-E2D7-BC7A606D9B29}"/>
              </a:ext>
            </a:extLst>
          </p:cNvPr>
          <p:cNvSpPr/>
          <p:nvPr/>
        </p:nvSpPr>
        <p:spPr>
          <a:xfrm>
            <a:off x="12372975" y="10315575"/>
            <a:ext cx="2243137" cy="642937"/>
          </a:xfrm>
          <a:prstGeom prst="rect">
            <a:avLst/>
          </a:prstGeom>
          <a:solidFill>
            <a:srgbClr val="F3F3F7"/>
          </a:solidFill>
          <a:ln>
            <a:solidFill>
              <a:srgbClr val="F3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16731"/>
            <a:ext cx="88527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Features &amp; Admin Dashboard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579138"/>
            <a:ext cx="4158615" cy="2570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3761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Student Interface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909436"/>
            <a:ext cx="4158615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Natural language chat experience</a:t>
            </a:r>
            <a:endParaRPr lang="en-US" sz="175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Conversation history tracking</a:t>
            </a:r>
            <a:endParaRPr lang="en-US" sz="175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Response feedback mechanism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3579138"/>
            <a:ext cx="4158615" cy="25702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63761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Admin Interface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6909436"/>
            <a:ext cx="4158615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Dynamic FAQ management</a:t>
            </a:r>
            <a:endParaRPr lang="en-US" sz="175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Escalated query monitoring</a:t>
            </a:r>
            <a:endParaRPr lang="en-US" sz="175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Usage analytics and trends</a:t>
            </a:r>
            <a:endParaRPr lang="en-US" sz="175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Accuracy tracking over time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3579138"/>
            <a:ext cx="4158615" cy="25702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63761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System Benefits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6909436"/>
            <a:ext cx="4158615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24/7 availability</a:t>
            </a:r>
            <a:endParaRPr lang="en-US" sz="175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 response latency</a:t>
            </a:r>
            <a:endParaRPr lang="en-US" sz="175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Consistent responses</a:t>
            </a:r>
            <a:endParaRPr lang="en-US" sz="175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Highly scalable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CD1451-2215-CEE6-6D03-5440196B8097}"/>
              </a:ext>
            </a:extLst>
          </p:cNvPr>
          <p:cNvSpPr/>
          <p:nvPr/>
        </p:nvSpPr>
        <p:spPr>
          <a:xfrm>
            <a:off x="12372975" y="10315575"/>
            <a:ext cx="2243137" cy="642937"/>
          </a:xfrm>
          <a:prstGeom prst="rect">
            <a:avLst/>
          </a:prstGeom>
          <a:solidFill>
            <a:srgbClr val="F3F3F7"/>
          </a:solidFill>
          <a:ln>
            <a:solidFill>
              <a:srgbClr val="F3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2371"/>
            <a:ext cx="612683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Conclusion &amp; Future Scope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1802486"/>
            <a:ext cx="13042821" cy="1683083"/>
          </a:xfrm>
          <a:prstGeom prst="roundRect">
            <a:avLst>
              <a:gd name="adj" fmla="val 1939"/>
            </a:avLst>
          </a:prstGeom>
          <a:solidFill>
            <a:srgbClr val="D5D5DD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52" y="2047399"/>
            <a:ext cx="301228" cy="2409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0542" y="201441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Conclusion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480542" y="2479477"/>
            <a:ext cx="12163306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Successfully developed an NLP-based chatbot that automates student helpdesk operations, reduces administrative workload, and delivers real-time, semantically accurate responses across all domains.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906686"/>
            <a:ext cx="963930" cy="11568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1550" y="409944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Multilingual Support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1921550" y="4498903"/>
            <a:ext cx="1191506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Expand to regional languages for broader accessibility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063497"/>
            <a:ext cx="963930" cy="115681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21550" y="525625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Sentiment Analysis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1921550" y="5655714"/>
            <a:ext cx="1191506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 frustrated students and prioritize assistance</a:t>
            </a:r>
            <a:endParaRPr lang="en-US" sz="15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6220308"/>
            <a:ext cx="963930" cy="115681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921550" y="6413070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Adaptive Learning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1921550" y="6812525"/>
            <a:ext cx="1191506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 from user feedback over time</a:t>
            </a:r>
            <a:endParaRPr lang="en-US" sz="15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7377120"/>
            <a:ext cx="963930" cy="115681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921550" y="756988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ERP Integration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1921550" y="7969336"/>
            <a:ext cx="1191506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 with attendance, fees, and results systems</a:t>
            </a:r>
            <a:endParaRPr lang="en-US" sz="15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790" y="8533931"/>
            <a:ext cx="963930" cy="115681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921550" y="872669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Mobile App</a:t>
            </a:r>
            <a:endParaRPr lang="en-US" sz="1850" dirty="0"/>
          </a:p>
        </p:txBody>
      </p:sp>
      <p:sp>
        <p:nvSpPr>
          <p:cNvPr id="21" name="Text 13"/>
          <p:cNvSpPr/>
          <p:nvPr/>
        </p:nvSpPr>
        <p:spPr>
          <a:xfrm>
            <a:off x="1921550" y="9126148"/>
            <a:ext cx="1191506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Extend functionality to iOS and Android platforms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1082993" y="10059360"/>
            <a:ext cx="1275361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"A smarter helpdesk — built to scale with every student."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793790" y="9875051"/>
            <a:ext cx="22860" cy="653891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527E4C5-7102-72F0-7443-A1CE84EDC844}"/>
              </a:ext>
            </a:extLst>
          </p:cNvPr>
          <p:cNvSpPr/>
          <p:nvPr/>
        </p:nvSpPr>
        <p:spPr>
          <a:xfrm>
            <a:off x="12372975" y="10315575"/>
            <a:ext cx="2243137" cy="642937"/>
          </a:xfrm>
          <a:prstGeom prst="rect">
            <a:avLst/>
          </a:prstGeom>
          <a:solidFill>
            <a:srgbClr val="F3F3F7"/>
          </a:solidFill>
          <a:ln>
            <a:solidFill>
              <a:srgbClr val="F3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1017</Words>
  <Application>Microsoft Office PowerPoint</Application>
  <PresentationFormat>Custom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Playfair Display Bold</vt:lpstr>
      <vt:lpstr>Consolas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Sai Anudra</cp:lastModifiedBy>
  <cp:revision>3</cp:revision>
  <dcterms:created xsi:type="dcterms:W3CDTF">2026-03-06T05:16:00Z</dcterms:created>
  <dcterms:modified xsi:type="dcterms:W3CDTF">2026-03-06T05:43:33Z</dcterms:modified>
</cp:coreProperties>
</file>